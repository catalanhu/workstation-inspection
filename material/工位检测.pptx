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147482764" r:id="rId2"/>
    <p:sldId id="2147482760" r:id="rId3"/>
    <p:sldId id="2147482761" r:id="rId4"/>
    <p:sldId id="2147482766" r:id="rId5"/>
    <p:sldId id="2147482767" r:id="rId6"/>
    <p:sldId id="259" r:id="rId7"/>
    <p:sldId id="265" r:id="rId8"/>
    <p:sldId id="2147482762" r:id="rId9"/>
    <p:sldId id="2147482763" r:id="rId10"/>
    <p:sldId id="261" r:id="rId11"/>
    <p:sldId id="262" r:id="rId12"/>
    <p:sldId id="263" r:id="rId13"/>
    <p:sldId id="264" r:id="rId14"/>
    <p:sldId id="21474827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9" autoAdjust="0"/>
  </p:normalViewPr>
  <p:slideViewPr>
    <p:cSldViewPr snapToGrid="0">
      <p:cViewPr varScale="1">
        <p:scale>
          <a:sx n="93" d="100"/>
          <a:sy n="93" d="100"/>
        </p:scale>
        <p:origin x="123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E339C-CDB1-4724-83FE-DDA64CE68088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28789-B74F-454C-97F7-AD32B3F7C3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78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B7418-4886-A7CF-4703-4A5A716A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C1982-3FD6-7F87-1DFA-4DC6086A1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EBDD86-5A7F-591C-9B80-554527F12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FE572-5732-54F6-D8E8-39A2A515E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28789-B74F-454C-97F7-AD32B3F7C3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4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28789-B74F-454C-97F7-AD32B3F7C30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72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标准化：</a:t>
            </a:r>
            <a:endParaRPr lang="en-US" altLang="zh-CN" dirty="0"/>
          </a:p>
          <a:p>
            <a:r>
              <a:rPr lang="en-US" dirty="0"/>
              <a:t>EMA</a:t>
            </a:r>
            <a:r>
              <a:rPr lang="zh-CN" altLang="en-US" dirty="0"/>
              <a:t>可以让结果包含历史数据</a:t>
            </a:r>
            <a:endParaRPr lang="en-US" altLang="zh-CN" dirty="0"/>
          </a:p>
          <a:p>
            <a:r>
              <a:rPr lang="zh-CN" altLang="en-US" dirty="0"/>
              <a:t>标准化消除量纲影响</a:t>
            </a:r>
            <a:endParaRPr lang="en-US" altLang="zh-CN" dirty="0"/>
          </a:p>
          <a:p>
            <a:r>
              <a:rPr lang="zh-CN" altLang="en-US" dirty="0"/>
              <a:t>分级：</a:t>
            </a:r>
            <a:endParaRPr lang="en-US" altLang="zh-CN" dirty="0"/>
          </a:p>
          <a:p>
            <a:r>
              <a:rPr lang="zh-CN" altLang="en-US" dirty="0"/>
              <a:t>过于集中用绝对阈值分级，过于分散用标准差分级，正常状态用动态分位数分级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28789-B74F-454C-97F7-AD32B3F7C30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243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28789-B74F-454C-97F7-AD32B3F7C30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9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B5BF1-9C50-81D0-0688-D6CDE09A1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B671B-F93A-6A6D-909C-122C52251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82BE9-EE06-DD58-9191-0D19D233A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B2264-986E-AF18-0597-E708D8EED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28789-B74F-454C-97F7-AD32B3F7C30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029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28789-B74F-454C-97F7-AD32B3F7C30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766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28789-B74F-454C-97F7-AD32B3F7C30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4755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277F9-9340-EC27-8D8A-0791F538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FEEB7-A9C1-8172-A329-09E2AD222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0A13-2FF2-BC78-D8A1-9B8268FFEB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报废和检验</a:t>
            </a:r>
            <a:r>
              <a:rPr lang="en-US" altLang="zh-CN" dirty="0"/>
              <a:t>--next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9FAAC7-6908-8B19-EC48-2DAAC8D121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28789-B74F-454C-97F7-AD32B3F7C30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2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CD6F-EAD6-533C-D04F-C0B89D20A3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0F40A4-2EE3-6C21-C4A5-2FD1A4A0FB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B7885-3069-05C5-7EC9-A65C8064F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FD6B07-CF87-0670-1D39-3C0FC0BAC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0496B-2AFC-A36C-1138-5C0A70F26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31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8529D-62F3-7288-4D1E-92C0865F2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71D16-A5E2-4ADC-25D6-9932674EB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3DFB9-F4F8-13DF-054E-888A8AE1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08898A-42B1-FC5F-6FCE-5C20FFA7F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AA73F-680F-186E-0681-7CE92CA38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5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9EB0B-3FAC-EFF9-94DC-B3E4F8655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FC658B-3E50-C0DC-A86F-C4BF040FF6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01F98-5772-B390-80F5-60D3734B9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69BFC-17A7-B025-42D1-4997F265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E1769-D703-32DB-9F2C-14CFD3E5B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71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A7A6-5FC2-2C81-A9EA-147C6ED3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1ADA7-FA71-88F7-14EF-BD4263BE90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71D07-A5B3-991C-D9F5-CD01F7692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F5C3D-5472-49F7-C0A9-37EB797E4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B6F1DD-FB6A-B60E-0A5B-2F8AC77CF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A5382D-ABD2-21E5-49B2-79E5ABF27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306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537DF-D946-F4B4-A4C5-F9578B60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D3F73-966B-1D6B-1FBF-D0F4B5297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32C4A-8D36-E31D-52F4-A50280E517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9226D-7789-09E1-196B-1926B6A110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8CD490-AA4D-79FB-2F4F-4F22EEB2D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936D5F-F74F-99AC-C744-7947FB17D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6FD5D-394B-3356-9FE5-98F9B9F94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526210-BF42-707E-0F36-BED99244D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91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E727-629E-B28F-BFB3-9A1535AA5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0D1BBA-E38B-AE01-8541-0CD7C75CA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846162-73BE-2C5A-6821-736C491A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6F0BA4-D75A-425C-BA6C-94075BCF9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09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FD3C50-FF20-5432-4575-72DCA551F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532C29-20FB-0A2D-223D-671C94604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07EA2-0314-C7E3-9E99-603412D73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45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FCD01-2101-4459-B587-59B391050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B2A17-72BF-7C85-EE3A-E491180EF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42F349-2F6F-70DE-0600-FD848C108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36E1A-D57E-A45A-F871-9EC16036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9CC76C-C272-8398-5534-CB0B30950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58505-59D1-8B96-8A01-79C5C9F82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521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D7AF7-7FD4-3F9A-59FE-9D4446CB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02C556-5916-D68F-FB5D-78D84DCC9D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7969A3-A49F-D62A-42A3-672FA2DFE4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DFDC5F-A8EE-B42B-0625-11C82F9E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24FBE1-92CC-E3DB-AE15-5ECCB494B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A8573-4D1C-46FF-0C6E-E7706352B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36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F2F8-46F7-4699-86B8-F4846DA0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BC1ACF-A8B9-CF48-E3FA-6BB9C803F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EF621-F523-0FBF-A923-886ACC7E2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B69DC-846D-99B0-A9E5-95B56003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2E14D-2E54-2A11-A0C6-B9C138F54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18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C55298-A720-1E8F-E775-54482C6D89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A1421-23BB-45E8-FCE6-CAEED543B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2D528-2564-BC41-3C5A-C6814FA3A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95FC0-263A-D0C3-CEAC-E08DC39D1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CD8A4-41D9-8916-183D-7456A6B2C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162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D0B484F-8F77-1211-F00F-37B1D47BA7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6463" t="25571" r="-1687" b="949"/>
          <a:stretch>
            <a:fillRect/>
          </a:stretch>
        </p:blipFill>
        <p:spPr>
          <a:xfrm rot="16200000" flipV="1">
            <a:off x="8965823" y="3642514"/>
            <a:ext cx="3416321" cy="3036483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80406DA-DDC6-B9F8-2DFB-16238F0424F3}"/>
              </a:ext>
            </a:extLst>
          </p:cNvPr>
          <p:cNvSpPr/>
          <p:nvPr userDrawn="1"/>
        </p:nvSpPr>
        <p:spPr>
          <a:xfrm>
            <a:off x="0" y="-3"/>
            <a:ext cx="8876702" cy="6858003"/>
          </a:xfrm>
          <a:custGeom>
            <a:avLst/>
            <a:gdLst>
              <a:gd name="connsiteX0" fmla="*/ 0 w 8876702"/>
              <a:gd name="connsiteY0" fmla="*/ 0 h 6858003"/>
              <a:gd name="connsiteX1" fmla="*/ 8876702 w 8876702"/>
              <a:gd name="connsiteY1" fmla="*/ 0 h 6858003"/>
              <a:gd name="connsiteX2" fmla="*/ 8876702 w 8876702"/>
              <a:gd name="connsiteY2" fmla="*/ 6858003 h 6858003"/>
              <a:gd name="connsiteX3" fmla="*/ 1932051 w 8876702"/>
              <a:gd name="connsiteY3" fmla="*/ 6858003 h 6858003"/>
              <a:gd name="connsiteX4" fmla="*/ 1932051 w 8876702"/>
              <a:gd name="connsiteY4" fmla="*/ 6406622 h 6858003"/>
              <a:gd name="connsiteX5" fmla="*/ 0 w 8876702"/>
              <a:gd name="connsiteY5" fmla="*/ 6406622 h 6858003"/>
              <a:gd name="connsiteX6" fmla="*/ 0 w 8876702"/>
              <a:gd name="connsiteY6" fmla="*/ 0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876702" h="6858003">
                <a:moveTo>
                  <a:pt x="0" y="0"/>
                </a:moveTo>
                <a:lnTo>
                  <a:pt x="8876702" y="0"/>
                </a:lnTo>
                <a:lnTo>
                  <a:pt x="8876702" y="6858003"/>
                </a:lnTo>
                <a:lnTo>
                  <a:pt x="1932051" y="6858003"/>
                </a:lnTo>
                <a:lnTo>
                  <a:pt x="1932051" y="6406622"/>
                </a:lnTo>
                <a:lnTo>
                  <a:pt x="0" y="6406622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1A28E15-4D92-0682-3081-33BEAFDFC1C3}"/>
              </a:ext>
            </a:extLst>
          </p:cNvPr>
          <p:cNvSpPr/>
          <p:nvPr userDrawn="1"/>
        </p:nvSpPr>
        <p:spPr>
          <a:xfrm>
            <a:off x="-1" y="6406619"/>
            <a:ext cx="1932052" cy="462297"/>
          </a:xfrm>
          <a:custGeom>
            <a:avLst/>
            <a:gdLst>
              <a:gd name="connsiteX0" fmla="*/ 0 w 1932052"/>
              <a:gd name="connsiteY0" fmla="*/ 0 h 462297"/>
              <a:gd name="connsiteX1" fmla="*/ 1 w 1932052"/>
              <a:gd name="connsiteY1" fmla="*/ 0 h 462297"/>
              <a:gd name="connsiteX2" fmla="*/ 1 w 1932052"/>
              <a:gd name="connsiteY2" fmla="*/ 451381 h 462297"/>
              <a:gd name="connsiteX3" fmla="*/ 1932052 w 1932052"/>
              <a:gd name="connsiteY3" fmla="*/ 451381 h 462297"/>
              <a:gd name="connsiteX4" fmla="*/ 1932052 w 1932052"/>
              <a:gd name="connsiteY4" fmla="*/ 462297 h 462297"/>
              <a:gd name="connsiteX5" fmla="*/ 0 w 1932052"/>
              <a:gd name="connsiteY5" fmla="*/ 462297 h 462297"/>
              <a:gd name="connsiteX6" fmla="*/ 0 w 1932052"/>
              <a:gd name="connsiteY6" fmla="*/ 0 h 462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32052" h="462297">
                <a:moveTo>
                  <a:pt x="0" y="0"/>
                </a:moveTo>
                <a:lnTo>
                  <a:pt x="1" y="0"/>
                </a:lnTo>
                <a:lnTo>
                  <a:pt x="1" y="451381"/>
                </a:lnTo>
                <a:lnTo>
                  <a:pt x="1932052" y="451381"/>
                </a:lnTo>
                <a:lnTo>
                  <a:pt x="1932052" y="462297"/>
                </a:lnTo>
                <a:lnTo>
                  <a:pt x="0" y="462297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F7340E-7834-79ED-354B-9D00ED8C90AD}"/>
              </a:ext>
            </a:extLst>
          </p:cNvPr>
          <p:cNvGrpSpPr/>
          <p:nvPr userDrawn="1"/>
        </p:nvGrpSpPr>
        <p:grpSpPr>
          <a:xfrm>
            <a:off x="2032390" y="6590352"/>
            <a:ext cx="8907954" cy="278564"/>
            <a:chOff x="2032390" y="6590352"/>
            <a:chExt cx="8907954" cy="27856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F874643-0043-CAD9-A6BF-0657446FA6BB}"/>
                </a:ext>
              </a:extLst>
            </p:cNvPr>
            <p:cNvCxnSpPr/>
            <p:nvPr userDrawn="1"/>
          </p:nvCxnSpPr>
          <p:spPr>
            <a:xfrm flipH="1">
              <a:off x="6955747" y="6591135"/>
              <a:ext cx="3984597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F50128A-A01D-0D88-AEFB-B526285DBE6B}"/>
                </a:ext>
              </a:extLst>
            </p:cNvPr>
            <p:cNvCxnSpPr/>
            <p:nvPr userDrawn="1"/>
          </p:nvCxnSpPr>
          <p:spPr>
            <a:xfrm flipH="1">
              <a:off x="2589582" y="6591135"/>
              <a:ext cx="3044985" cy="0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E286B08-8638-B07C-D5C8-A74818F301DF}"/>
                </a:ext>
              </a:extLst>
            </p:cNvPr>
            <p:cNvCxnSpPr/>
            <p:nvPr userDrawn="1"/>
          </p:nvCxnSpPr>
          <p:spPr>
            <a:xfrm flipH="1">
              <a:off x="2032390" y="6590352"/>
              <a:ext cx="557192" cy="278564"/>
            </a:xfrm>
            <a:prstGeom prst="line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itle 9">
            <a:extLst>
              <a:ext uri="{FF2B5EF4-FFF2-40B4-BE49-F238E27FC236}">
                <a16:creationId xmlns:a16="http://schemas.microsoft.com/office/drawing/2014/main" id="{A420C111-E6C4-486A-F21B-9D936766B9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5207" y="749533"/>
            <a:ext cx="8787171" cy="746966"/>
          </a:xfrm>
          <a:prstGeom prst="rect">
            <a:avLst/>
          </a:prstGeom>
        </p:spPr>
        <p:txBody>
          <a:bodyPr/>
          <a:lstStyle>
            <a:lvl1pPr>
              <a:defRPr sz="3200" b="1" i="0">
                <a:solidFill>
                  <a:srgbClr val="404040"/>
                </a:solidFill>
                <a:latin typeface="Arial Nova Cond" panose="020B0506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F1357F08-3220-A762-3052-79D1C6B70B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6881" y="451381"/>
            <a:ext cx="8787170" cy="2898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spc="600">
                <a:solidFill>
                  <a:srgbClr val="404040"/>
                </a:solidFill>
                <a:latin typeface="Arial Nova Cond Light" panose="020B0306020202020204" pitchFamily="34" charset="0"/>
              </a:defRPr>
            </a:lvl1pPr>
          </a:lstStyle>
          <a:p>
            <a:pPr lvl="0"/>
            <a:r>
              <a:rPr lang="en-US" dirty="0"/>
              <a:t>SUB HEADER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178E03-CA14-1F79-5196-C92640E3B6FD}"/>
              </a:ext>
            </a:extLst>
          </p:cNvPr>
          <p:cNvSpPr/>
          <p:nvPr userDrawn="1"/>
        </p:nvSpPr>
        <p:spPr>
          <a:xfrm rot="16200000">
            <a:off x="-528273" y="528270"/>
            <a:ext cx="1171577" cy="11503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9935F7B-927C-E3DC-AE6D-A66A9247D1B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40683" y="6500690"/>
            <a:ext cx="891852" cy="136751"/>
          </a:xfrm>
          <a:prstGeom prst="rect">
            <a:avLst/>
          </a:prstGeom>
        </p:spPr>
      </p:pic>
      <p:pic>
        <p:nvPicPr>
          <p:cNvPr id="28" name="Graphic 18">
            <a:extLst>
              <a:ext uri="{FF2B5EF4-FFF2-40B4-BE49-F238E27FC236}">
                <a16:creationId xmlns:a16="http://schemas.microsoft.com/office/drawing/2014/main" id="{253DD405-944F-9121-E25D-2A8641243FA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718660" y="6515297"/>
            <a:ext cx="1173954" cy="13043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E3FC4-1CCC-ABE6-5F91-0502B9E1008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5206" y="1609587"/>
            <a:ext cx="11667329" cy="449887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lang="en-US" sz="1600" b="1" i="0" kern="1200" dirty="0" smtClean="0">
                <a:solidFill>
                  <a:srgbClr val="404040"/>
                </a:solidFill>
                <a:latin typeface="Arial Nova Cond" panose="020B0506020202020204" pitchFamily="34" charset="0"/>
                <a:ea typeface="+mj-ea"/>
                <a:cs typeface="+mj-cs"/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FE59D-4DDB-D891-AADB-6289D30F1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36903" y="6540023"/>
            <a:ext cx="442248" cy="975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fld id="{EF9AE70C-EE9F-284C-8BED-0ACA912CD160}" type="slidenum">
              <a:rPr lang="en-US" smtClean="0"/>
              <a:pPr/>
              <a:t>‹#›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62013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A08053-594C-372F-303C-B5B8ED826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67AC8-521A-87B4-4C5B-CABBE5AE6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9551EA-E36B-F225-E32B-36251BDF18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5C589-21E7-4B92-B557-C3CBE1D33CA3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609A4-063F-EDE9-3308-6ABD4C1B2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07811-1189-B1B6-03A6-AC61FB95A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287C5-E933-4F2B-B5FF-DE6F12787C0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D5908-D3E3-09AA-77D7-F2FEF374EEC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7113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737373">
                    <a:alpha val="50000"/>
                  </a:srgbClr>
                </a:solidFill>
                <a:latin typeface="Aptos" panose="020B0004020202020204" pitchFamily="34" charset="0"/>
              </a:rPr>
              <a:t>Caterpillar: Confidential Green</a:t>
            </a:r>
          </a:p>
        </p:txBody>
      </p:sp>
    </p:spTree>
    <p:extLst>
      <p:ext uri="{BB962C8B-B14F-4D97-AF65-F5344CB8AC3E}">
        <p14:creationId xmlns:p14="http://schemas.microsoft.com/office/powerpoint/2010/main" val="1483451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8FF1-1AD0-1812-7D57-F5B60750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E18C47-5C62-6811-15BA-F3C0FB0E7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07" y="330509"/>
            <a:ext cx="8787171" cy="746966"/>
          </a:xfrm>
        </p:spPr>
        <p:txBody>
          <a:bodyPr>
            <a:normAutofit/>
          </a:bodyPr>
          <a:lstStyle/>
          <a:p>
            <a:r>
              <a:rPr lang="zh-CN" altLang="en-US" dirty="0"/>
              <a:t>背景与核心要求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1EAAD81-5B2F-493A-424F-9C99F4E336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9AE70C-EE9F-284C-8BED-0ACA912CD160}" type="slidenum">
              <a:rPr lang="en-US" smtClean="0"/>
              <a:pPr/>
              <a:t>1</a:t>
            </a:fld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EF3CD4-10D3-5B89-6599-DC64923A15E2}"/>
              </a:ext>
            </a:extLst>
          </p:cNvPr>
          <p:cNvSpPr txBox="1"/>
          <p:nvPr/>
        </p:nvSpPr>
        <p:spPr>
          <a:xfrm>
            <a:off x="265207" y="1695228"/>
            <a:ext cx="116905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目标</a:t>
            </a:r>
            <a:endParaRPr lang="en-US" altLang="zh-CN" b="1" dirty="0"/>
          </a:p>
          <a:p>
            <a:pPr lvl="1"/>
            <a:r>
              <a:rPr lang="zh-CN" altLang="en-US" dirty="0"/>
              <a:t>建立一套针对工厂多工位的实时质量评估体系，解决仅依赖合格率评分的局限性，实现更全面的工位质量诊断。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b="1" dirty="0"/>
              <a:t>核心要求</a:t>
            </a:r>
            <a:endParaRPr lang="zh-CN" altLang="en-US" dirty="0"/>
          </a:p>
          <a:p>
            <a:pPr lvl="1"/>
            <a:r>
              <a:rPr lang="zh-CN" altLang="en-US" b="1" dirty="0"/>
              <a:t>实时数据处理</a:t>
            </a:r>
            <a:r>
              <a:rPr lang="zh-CN" altLang="en-US" dirty="0"/>
              <a:t>：对各工位的质量相关指标进行实时采集与分析。</a:t>
            </a:r>
          </a:p>
          <a:p>
            <a:pPr lvl="1"/>
            <a:r>
              <a:rPr lang="zh-CN" altLang="en-US" b="1" dirty="0"/>
              <a:t>自动分级</a:t>
            </a:r>
            <a:r>
              <a:rPr lang="zh-CN" altLang="en-US" dirty="0"/>
              <a:t>：基于多指标，自动将工位划分为三个等级：</a:t>
            </a:r>
            <a:r>
              <a:rPr lang="zh-CN" altLang="en-US" b="1" dirty="0"/>
              <a:t>优、良、中</a:t>
            </a:r>
            <a:r>
              <a:rPr lang="zh-CN" altLang="en-US" dirty="0"/>
              <a:t>。</a:t>
            </a:r>
          </a:p>
          <a:p>
            <a:pPr lvl="1"/>
            <a:r>
              <a:rPr lang="zh-CN" altLang="en-US" b="1" dirty="0"/>
              <a:t>诊断信息展示</a:t>
            </a:r>
            <a:r>
              <a:rPr lang="zh-CN" altLang="en-US" dirty="0"/>
              <a:t>：输出每个工位的质量等级及关键影响因素，辅助管理决策。</a:t>
            </a:r>
            <a:endParaRPr lang="en-US" altLang="zh-CN" dirty="0"/>
          </a:p>
          <a:p>
            <a:pPr lvl="1"/>
            <a:endParaRPr lang="zh-CN" altLang="en-US" dirty="0"/>
          </a:p>
          <a:p>
            <a:r>
              <a:rPr lang="zh-CN" altLang="en-US" b="1" dirty="0"/>
              <a:t>改进点</a:t>
            </a:r>
            <a:endParaRPr lang="zh-CN" altLang="en-US" dirty="0"/>
          </a:p>
          <a:p>
            <a:pPr lvl="1"/>
            <a:r>
              <a:rPr lang="zh-CN" altLang="en-US" dirty="0"/>
              <a:t>不再单一依赖合格率，而是综合考虑成本与质量表现，形成多维度评价模型。</a:t>
            </a:r>
          </a:p>
        </p:txBody>
      </p:sp>
    </p:spTree>
    <p:extLst>
      <p:ext uri="{BB962C8B-B14F-4D97-AF65-F5344CB8AC3E}">
        <p14:creationId xmlns:p14="http://schemas.microsoft.com/office/powerpoint/2010/main" val="306921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BA8893-294D-CCB8-0326-62576A17C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07" y="330509"/>
            <a:ext cx="8787171" cy="746966"/>
          </a:xfrm>
        </p:spPr>
        <p:txBody>
          <a:bodyPr>
            <a:normAutofit/>
          </a:bodyPr>
          <a:lstStyle/>
          <a:p>
            <a:r>
              <a:rPr lang="zh-CN" altLang="en-US" dirty="0"/>
              <a:t>预处理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60D9714-A7E6-ABE9-A1E1-62D25487E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9AE70C-EE9F-284C-8BED-0ACA912CD160}" type="slidenum">
              <a:rPr lang="en-US" smtClean="0"/>
              <a:pPr/>
              <a:t>2</a:t>
            </a:fld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2858D3-179A-BBB6-3A22-3D5FDC3F7778}"/>
              </a:ext>
            </a:extLst>
          </p:cNvPr>
          <p:cNvSpPr txBox="1"/>
          <p:nvPr/>
        </p:nvSpPr>
        <p:spPr>
          <a:xfrm>
            <a:off x="250723" y="2372939"/>
            <a:ext cx="116905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从数据库表格中提取每个工位对应的指标（检测成本，合格率，返工成本，报废成本）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	</a:t>
            </a:r>
            <a:r>
              <a:rPr lang="zh-CN" altLang="en-US" dirty="0"/>
              <a:t>检验成本 </a:t>
            </a:r>
            <a:r>
              <a:rPr lang="en-US" altLang="zh-CN" dirty="0"/>
              <a:t>=  [ </a:t>
            </a:r>
            <a:r>
              <a:rPr lang="zh-CN" altLang="en-US" dirty="0"/>
              <a:t>当天 </a:t>
            </a:r>
            <a:r>
              <a:rPr lang="en-US" altLang="zh-CN" dirty="0"/>
              <a:t>( </a:t>
            </a:r>
            <a:r>
              <a:rPr lang="zh-CN" altLang="en-US" dirty="0"/>
              <a:t>包含 </a:t>
            </a:r>
            <a:r>
              <a:rPr lang="en-US" altLang="zh-CN" dirty="0"/>
              <a:t>) </a:t>
            </a:r>
            <a:r>
              <a:rPr lang="zh-CN" altLang="en-US" dirty="0"/>
              <a:t>往前</a:t>
            </a:r>
            <a:r>
              <a:rPr lang="en-US" altLang="zh-CN" dirty="0"/>
              <a:t>90</a:t>
            </a:r>
            <a:r>
              <a:rPr lang="zh-CN" altLang="en-US" dirty="0"/>
              <a:t>天内 </a:t>
            </a:r>
            <a:r>
              <a:rPr lang="en-US" altLang="zh-CN" dirty="0"/>
              <a:t>] </a:t>
            </a:r>
            <a:r>
              <a:rPr lang="zh-CN" altLang="en-US" dirty="0"/>
              <a:t>的返工检测成本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	</a:t>
            </a:r>
            <a:r>
              <a:rPr lang="zh-CN" altLang="en-US" dirty="0"/>
              <a:t>合格率      </a:t>
            </a:r>
            <a:r>
              <a:rPr lang="en-US" altLang="zh-CN" dirty="0"/>
              <a:t>=  1 – { [ </a:t>
            </a:r>
            <a:r>
              <a:rPr lang="zh-CN" altLang="en-US" dirty="0"/>
              <a:t>当天 </a:t>
            </a:r>
            <a:r>
              <a:rPr lang="en-US" altLang="zh-CN" dirty="0"/>
              <a:t>( </a:t>
            </a:r>
            <a:r>
              <a:rPr lang="zh-CN" altLang="en-US" dirty="0"/>
              <a:t>包含 </a:t>
            </a:r>
            <a:r>
              <a:rPr lang="en-US" altLang="zh-CN" dirty="0"/>
              <a:t>)</a:t>
            </a:r>
            <a:r>
              <a:rPr lang="zh-CN" altLang="en-US" dirty="0"/>
              <a:t> 往前</a:t>
            </a:r>
            <a:r>
              <a:rPr lang="en-US" altLang="zh-CN" dirty="0"/>
              <a:t>90</a:t>
            </a:r>
            <a:r>
              <a:rPr lang="zh-CN" altLang="en-US" dirty="0"/>
              <a:t>天内 </a:t>
            </a:r>
            <a:r>
              <a:rPr lang="en-US" altLang="zh-CN" dirty="0"/>
              <a:t>] </a:t>
            </a:r>
            <a:r>
              <a:rPr lang="zh-CN" altLang="en-US" dirty="0"/>
              <a:t>缺陷数量 </a:t>
            </a:r>
            <a:r>
              <a:rPr lang="en-US" altLang="zh-CN" dirty="0"/>
              <a:t>/ [ </a:t>
            </a:r>
            <a:r>
              <a:rPr lang="zh-CN" altLang="en-US" dirty="0"/>
              <a:t>当天 </a:t>
            </a:r>
            <a:r>
              <a:rPr lang="en-US" altLang="zh-CN" dirty="0"/>
              <a:t>( </a:t>
            </a:r>
            <a:r>
              <a:rPr lang="zh-CN" altLang="en-US" dirty="0"/>
              <a:t>包含 </a:t>
            </a:r>
            <a:r>
              <a:rPr lang="en-US" altLang="zh-CN" dirty="0"/>
              <a:t>)</a:t>
            </a:r>
            <a:r>
              <a:rPr lang="zh-CN" altLang="en-US" dirty="0"/>
              <a:t> 往前</a:t>
            </a:r>
            <a:r>
              <a:rPr lang="en-US" altLang="zh-CN" dirty="0"/>
              <a:t>90</a:t>
            </a:r>
            <a:r>
              <a:rPr lang="zh-CN" altLang="en-US" dirty="0"/>
              <a:t>天内 </a:t>
            </a:r>
            <a:r>
              <a:rPr lang="en-US" altLang="zh-CN" dirty="0"/>
              <a:t>] </a:t>
            </a:r>
            <a:r>
              <a:rPr lang="zh-CN" altLang="en-US" dirty="0"/>
              <a:t>产量 </a:t>
            </a:r>
            <a:r>
              <a:rPr lang="en-US" altLang="zh-CN" dirty="0"/>
              <a:t>}</a:t>
            </a:r>
          </a:p>
          <a:p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返工成本 </a:t>
            </a:r>
            <a:r>
              <a:rPr lang="en-US" altLang="zh-CN" dirty="0"/>
              <a:t>=  [ </a:t>
            </a:r>
            <a:r>
              <a:rPr lang="zh-CN" altLang="en-US" dirty="0"/>
              <a:t>当天 </a:t>
            </a:r>
            <a:r>
              <a:rPr lang="en-US" altLang="zh-CN" dirty="0"/>
              <a:t>( </a:t>
            </a:r>
            <a:r>
              <a:rPr lang="zh-CN" altLang="en-US" dirty="0"/>
              <a:t>包含 </a:t>
            </a:r>
            <a:r>
              <a:rPr lang="en-US" altLang="zh-CN" dirty="0"/>
              <a:t>)</a:t>
            </a:r>
            <a:r>
              <a:rPr lang="zh-CN" altLang="en-US" dirty="0"/>
              <a:t> 往前</a:t>
            </a:r>
            <a:r>
              <a:rPr lang="en-US" altLang="zh-CN" dirty="0"/>
              <a:t>90</a:t>
            </a:r>
            <a:r>
              <a:rPr lang="zh-CN" altLang="en-US" dirty="0"/>
              <a:t>天内 </a:t>
            </a:r>
            <a:r>
              <a:rPr lang="en-US" altLang="zh-CN" dirty="0"/>
              <a:t>] </a:t>
            </a:r>
            <a:r>
              <a:rPr lang="zh-CN" altLang="en-US" dirty="0"/>
              <a:t>的返工总成本 </a:t>
            </a:r>
            <a:r>
              <a:rPr lang="en-US" altLang="zh-CN" dirty="0"/>
              <a:t>– [ </a:t>
            </a:r>
            <a:r>
              <a:rPr lang="zh-CN" altLang="en-US" dirty="0"/>
              <a:t>当天 </a:t>
            </a:r>
            <a:r>
              <a:rPr lang="en-US" altLang="zh-CN" dirty="0"/>
              <a:t>( </a:t>
            </a:r>
            <a:r>
              <a:rPr lang="zh-CN" altLang="en-US" dirty="0"/>
              <a:t>包含 </a:t>
            </a:r>
            <a:r>
              <a:rPr lang="en-US" altLang="zh-CN" dirty="0"/>
              <a:t>) </a:t>
            </a:r>
            <a:r>
              <a:rPr lang="zh-CN" altLang="en-US" dirty="0"/>
              <a:t>往前</a:t>
            </a:r>
            <a:r>
              <a:rPr lang="en-US" altLang="zh-CN" dirty="0"/>
              <a:t>90</a:t>
            </a:r>
            <a:r>
              <a:rPr lang="zh-CN" altLang="en-US" dirty="0"/>
              <a:t>天内 </a:t>
            </a:r>
            <a:r>
              <a:rPr lang="en-US" altLang="zh-CN" dirty="0"/>
              <a:t>] </a:t>
            </a:r>
            <a:r>
              <a:rPr lang="zh-CN" altLang="en-US" dirty="0"/>
              <a:t>的返工检测成本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	</a:t>
            </a:r>
            <a:r>
              <a:rPr lang="zh-CN" altLang="en-US" dirty="0"/>
              <a:t>报废成本 </a:t>
            </a:r>
            <a:r>
              <a:rPr lang="en-US" altLang="zh-CN" dirty="0"/>
              <a:t>=  [ </a:t>
            </a:r>
            <a:r>
              <a:rPr lang="zh-CN" altLang="en-US" dirty="0"/>
              <a:t>当天 </a:t>
            </a:r>
            <a:r>
              <a:rPr lang="en-US" altLang="zh-CN" dirty="0"/>
              <a:t>( </a:t>
            </a:r>
            <a:r>
              <a:rPr lang="zh-CN" altLang="en-US" dirty="0"/>
              <a:t>包含 </a:t>
            </a:r>
            <a:r>
              <a:rPr lang="en-US" altLang="zh-CN" dirty="0"/>
              <a:t>)</a:t>
            </a:r>
            <a:r>
              <a:rPr lang="zh-CN" altLang="en-US" dirty="0"/>
              <a:t> 往前</a:t>
            </a:r>
            <a:r>
              <a:rPr lang="en-US" altLang="zh-CN" dirty="0"/>
              <a:t>90</a:t>
            </a:r>
            <a:r>
              <a:rPr lang="zh-CN" altLang="en-US" dirty="0"/>
              <a:t>天内 </a:t>
            </a:r>
            <a:r>
              <a:rPr lang="en-US" altLang="zh-CN" dirty="0"/>
              <a:t>] </a:t>
            </a:r>
            <a:r>
              <a:rPr lang="zh-CN" altLang="en-US" dirty="0"/>
              <a:t>的报废总数 * </a:t>
            </a:r>
            <a:r>
              <a:rPr lang="en-US" altLang="zh-CN" dirty="0"/>
              <a:t>1 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2EEA4FF2-ADE9-1A37-3B0C-3558F80FD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374057"/>
              </p:ext>
            </p:extLst>
          </p:nvPr>
        </p:nvGraphicFramePr>
        <p:xfrm>
          <a:off x="1624405" y="1354367"/>
          <a:ext cx="868142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93807">
                  <a:extLst>
                    <a:ext uri="{9D8B030D-6E8A-4147-A177-3AD203B41FA5}">
                      <a16:colId xmlns:a16="http://schemas.microsoft.com/office/drawing/2014/main" val="2095019350"/>
                    </a:ext>
                  </a:extLst>
                </a:gridCol>
                <a:gridCol w="2893807">
                  <a:extLst>
                    <a:ext uri="{9D8B030D-6E8A-4147-A177-3AD203B41FA5}">
                      <a16:colId xmlns:a16="http://schemas.microsoft.com/office/drawing/2014/main" val="1381045344"/>
                    </a:ext>
                  </a:extLst>
                </a:gridCol>
                <a:gridCol w="2893807">
                  <a:extLst>
                    <a:ext uri="{9D8B030D-6E8A-4147-A177-3AD203B41FA5}">
                      <a16:colId xmlns:a16="http://schemas.microsoft.com/office/drawing/2014/main" val="16507626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pdca_incident_quality_info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oee_sun_shi_manager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pdca_biq_rework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88409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缺陷数量、报废数量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产量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600" dirty="0"/>
                        <a:t>返工总成本、返工检测成本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7649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770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09652-3D00-0D7F-1443-E30E02D6E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EDD7CE-5AA8-51BC-6FDA-37475C821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07" y="330509"/>
            <a:ext cx="8787171" cy="746966"/>
          </a:xfrm>
        </p:spPr>
        <p:txBody>
          <a:bodyPr>
            <a:normAutofit/>
          </a:bodyPr>
          <a:lstStyle/>
          <a:p>
            <a:r>
              <a:rPr lang="zh-CN" altLang="en-US" dirty="0"/>
              <a:t>数据处理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864B7D0-63FF-DA6E-3781-E87EAE31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9AE70C-EE9F-284C-8BED-0ACA912CD160}" type="slidenum">
              <a:rPr lang="en-US" smtClean="0"/>
              <a:pPr/>
              <a:t>3</a:t>
            </a:fld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1AAA4-916A-1B27-F686-87A32BB0326D}"/>
              </a:ext>
            </a:extLst>
          </p:cNvPr>
          <p:cNvSpPr txBox="1"/>
          <p:nvPr/>
        </p:nvSpPr>
        <p:spPr>
          <a:xfrm>
            <a:off x="265106" y="1582676"/>
            <a:ext cx="843132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输入：预处理后的指标</a:t>
            </a:r>
            <a:endParaRPr lang="en-US" altLang="zh-CN" dirty="0"/>
          </a:p>
          <a:p>
            <a:r>
              <a:rPr lang="zh-CN" altLang="en-US" dirty="0"/>
              <a:t>输出：工位对应分级，诊断结果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标准化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同一工位，每个指标基于更新时间进行</a:t>
            </a:r>
            <a:r>
              <a:rPr lang="en-US" altLang="zh-CN" dirty="0"/>
              <a:t>EMA</a:t>
            </a:r>
            <a:r>
              <a:rPr lang="zh-CN" altLang="en-US" dirty="0"/>
              <a:t>计算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同一时间，每个指标所有工位取指数，再进行标准化，映射到 </a:t>
            </a:r>
            <a:r>
              <a:rPr lang="en-US" altLang="zh-CN" dirty="0"/>
              <a:t>[0</a:t>
            </a:r>
            <a:r>
              <a:rPr lang="zh-CN" altLang="en-US" dirty="0"/>
              <a:t>， </a:t>
            </a:r>
            <a:r>
              <a:rPr lang="en-US" altLang="zh-CN" dirty="0"/>
              <a:t>1] </a:t>
            </a:r>
            <a:r>
              <a:rPr lang="zh-CN" altLang="en-US" dirty="0"/>
              <a:t>区间</a:t>
            </a:r>
          </a:p>
          <a:p>
            <a:r>
              <a:rPr lang="zh-CN" altLang="en-US" dirty="0"/>
              <a:t>权重</a:t>
            </a:r>
            <a:r>
              <a:rPr lang="en-US" altLang="zh-CN" dirty="0"/>
              <a:t>	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主观权重：专家打分权重取均值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客观权重：计算四个指标的</a:t>
            </a:r>
            <a:r>
              <a:rPr lang="en-US" altLang="zh-CN" dirty="0"/>
              <a:t>CR|T|C</a:t>
            </a:r>
            <a:r>
              <a:rPr lang="zh-CN" altLang="en-US" dirty="0"/>
              <a:t>权重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最终权重：</a:t>
            </a:r>
            <a:r>
              <a:rPr lang="en-US" altLang="zh-CN" dirty="0"/>
              <a:t> 0.5 * </a:t>
            </a:r>
            <a:r>
              <a:rPr lang="zh-CN" altLang="en-US" dirty="0"/>
              <a:t>主观权重 </a:t>
            </a:r>
            <a:r>
              <a:rPr lang="en-US" altLang="zh-CN" dirty="0"/>
              <a:t>+ 0.5 * </a:t>
            </a:r>
            <a:r>
              <a:rPr lang="zh-CN" altLang="en-US" dirty="0"/>
              <a:t>客观权重</a:t>
            </a:r>
          </a:p>
          <a:p>
            <a:r>
              <a:rPr lang="zh-CN" altLang="en-US" dirty="0"/>
              <a:t>分级</a:t>
            </a:r>
            <a:r>
              <a:rPr lang="en-US" altLang="zh-CN" dirty="0"/>
              <a:t>	</a:t>
            </a:r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计算当前时刻每个工位的评分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根据当前时刻评分的变异系数，计算对应的阈值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根据阈值，对工位分级，并给出诊断结果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 descr="A diagram of a business flow&#10;&#10;AI-generated content may be incorrect.">
            <a:extLst>
              <a:ext uri="{FF2B5EF4-FFF2-40B4-BE49-F238E27FC236}">
                <a16:creationId xmlns:a16="http://schemas.microsoft.com/office/drawing/2014/main" id="{D17983CE-1574-A094-A770-5EEDD0B88A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6325" y="185737"/>
            <a:ext cx="3495675" cy="648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576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123BAB-7D93-D462-4201-E67A9D0A1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365" y="842601"/>
            <a:ext cx="4439270" cy="5172797"/>
          </a:xfrm>
          <a:prstGeom prst="rect">
            <a:avLst/>
          </a:prstGeom>
        </p:spPr>
      </p:pic>
      <p:sp>
        <p:nvSpPr>
          <p:cNvPr id="11" name="Title 3">
            <a:extLst>
              <a:ext uri="{FF2B5EF4-FFF2-40B4-BE49-F238E27FC236}">
                <a16:creationId xmlns:a16="http://schemas.microsoft.com/office/drawing/2014/main" id="{9C211F86-1045-8F8C-E33C-6223D1FC4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07" y="330509"/>
            <a:ext cx="8787171" cy="746966"/>
          </a:xfrm>
        </p:spPr>
        <p:txBody>
          <a:bodyPr>
            <a:normAutofit/>
          </a:bodyPr>
          <a:lstStyle/>
          <a:p>
            <a:r>
              <a:rPr lang="zh-CN" altLang="en-US" dirty="0"/>
              <a:t>预处理结果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297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4A8A5-315E-CA83-0E0C-E1766ADB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AB8CE80B-66ED-CC4E-3C23-DE96ABB28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07" y="330509"/>
            <a:ext cx="8787171" cy="746966"/>
          </a:xfrm>
        </p:spPr>
        <p:txBody>
          <a:bodyPr>
            <a:normAutofit/>
          </a:bodyPr>
          <a:lstStyle/>
          <a:p>
            <a:r>
              <a:rPr lang="zh-CN" altLang="en-US" dirty="0"/>
              <a:t>输出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C22DFE-067C-2CF6-D018-2C2FE60C9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9620"/>
            <a:ext cx="12192000" cy="444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703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84BC033-EC90-6B79-612D-D40BA3D76FB3}"/>
              </a:ext>
            </a:extLst>
          </p:cNvPr>
          <p:cNvSpPr/>
          <p:nvPr/>
        </p:nvSpPr>
        <p:spPr>
          <a:xfrm>
            <a:off x="2169268" y="2402733"/>
            <a:ext cx="359923" cy="250973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graph showing different colored dots and numbers&#10;&#10;AI-generated content may be incorrect.">
            <a:extLst>
              <a:ext uri="{FF2B5EF4-FFF2-40B4-BE49-F238E27FC236}">
                <a16:creationId xmlns:a16="http://schemas.microsoft.com/office/drawing/2014/main" id="{9899A86E-560C-2DF6-5AC8-D92DB84202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77" y="0"/>
            <a:ext cx="11605846" cy="6858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529236D-0A74-2D4F-FC53-F18695C8B09A}"/>
              </a:ext>
            </a:extLst>
          </p:cNvPr>
          <p:cNvSpPr/>
          <p:nvPr/>
        </p:nvSpPr>
        <p:spPr>
          <a:xfrm>
            <a:off x="8469549" y="2331397"/>
            <a:ext cx="359923" cy="250973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84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068B6B47-5E6E-D999-13F4-D3BCEBA7B1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52" y="3878539"/>
            <a:ext cx="6032548" cy="2513562"/>
          </a:xfrm>
          <a:prstGeom prst="rect">
            <a:avLst/>
          </a:prstGeom>
        </p:spPr>
      </p:pic>
      <p:pic>
        <p:nvPicPr>
          <p:cNvPr id="5" name="Picture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5FBDE129-4C65-88AA-81DD-EF1EDF7EA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50" y="447472"/>
            <a:ext cx="6014818" cy="2506174"/>
          </a:xfrm>
          <a:prstGeom prst="rect">
            <a:avLst/>
          </a:prstGeom>
        </p:spPr>
      </p:pic>
      <p:pic>
        <p:nvPicPr>
          <p:cNvPr id="6" name="Picture 5" descr="A graph with blue and orange bars&#10;&#10;AI-generated content may be incorrect.">
            <a:extLst>
              <a:ext uri="{FF2B5EF4-FFF2-40B4-BE49-F238E27FC236}">
                <a16:creationId xmlns:a16="http://schemas.microsoft.com/office/drawing/2014/main" id="{E7C8C954-220C-3C39-6F59-D2B2E01599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8539"/>
            <a:ext cx="6032548" cy="2525226"/>
          </a:xfrm>
          <a:prstGeom prst="rect">
            <a:avLst/>
          </a:prstGeom>
        </p:spPr>
      </p:pic>
      <p:pic>
        <p:nvPicPr>
          <p:cNvPr id="7" name="Picture 6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0729147A-8A44-549E-F74F-B886F065A5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472"/>
            <a:ext cx="6032550" cy="251356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DA60BEE-9B8C-D7EB-CE37-1B8326B44D43}"/>
              </a:ext>
            </a:extLst>
          </p:cNvPr>
          <p:cNvSpPr/>
          <p:nvPr/>
        </p:nvSpPr>
        <p:spPr>
          <a:xfrm>
            <a:off x="515565" y="894945"/>
            <a:ext cx="253138" cy="5515583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D283EE2-A269-FFBE-2403-235636E5D208}"/>
              </a:ext>
            </a:extLst>
          </p:cNvPr>
          <p:cNvSpPr/>
          <p:nvPr/>
        </p:nvSpPr>
        <p:spPr>
          <a:xfrm>
            <a:off x="6670037" y="894945"/>
            <a:ext cx="253138" cy="5515583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555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779A1-7659-5D86-24D7-9978F86AE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number of points&#10;&#10;AI-generated content may be incorrect.">
            <a:extLst>
              <a:ext uri="{FF2B5EF4-FFF2-40B4-BE49-F238E27FC236}">
                <a16:creationId xmlns:a16="http://schemas.microsoft.com/office/drawing/2014/main" id="{B22ABC35-DF01-916F-75A9-454265AAA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77" y="0"/>
            <a:ext cx="11605846" cy="6858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3A56B83-60D5-85B5-9B12-BEDF8279EE1B}"/>
              </a:ext>
            </a:extLst>
          </p:cNvPr>
          <p:cNvSpPr/>
          <p:nvPr/>
        </p:nvSpPr>
        <p:spPr>
          <a:xfrm>
            <a:off x="3004665" y="2100974"/>
            <a:ext cx="964907" cy="2656052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062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22BF-253E-6DC0-C0A7-FCB046161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309064A3-1C1A-5FA7-81A8-8AF1CAC04F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52" y="3878539"/>
            <a:ext cx="6014818" cy="2506174"/>
          </a:xfrm>
          <a:prstGeom prst="rect">
            <a:avLst/>
          </a:prstGeom>
        </p:spPr>
      </p:pic>
      <p:pic>
        <p:nvPicPr>
          <p:cNvPr id="15" name="Picture 1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96F1E727-2292-88D7-7F9F-8B926E0444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78539"/>
            <a:ext cx="6014818" cy="2506174"/>
          </a:xfrm>
          <a:prstGeom prst="rect">
            <a:avLst/>
          </a:prstGeom>
        </p:spPr>
      </p:pic>
      <p:pic>
        <p:nvPicPr>
          <p:cNvPr id="11" name="Picture 10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5A26C139-A779-C380-1D93-1F261F9C1B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52" y="447472"/>
            <a:ext cx="6014818" cy="2506174"/>
          </a:xfrm>
          <a:prstGeom prst="rect">
            <a:avLst/>
          </a:prstGeom>
        </p:spPr>
      </p:pic>
      <p:pic>
        <p:nvPicPr>
          <p:cNvPr id="3" name="Picture 2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59B71A98-760B-DCEC-C3E1-1756C5DAEC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7472"/>
            <a:ext cx="6014818" cy="2506174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806BD42-8481-54C9-19B3-2E9A792025F6}"/>
              </a:ext>
            </a:extLst>
          </p:cNvPr>
          <p:cNvSpPr/>
          <p:nvPr/>
        </p:nvSpPr>
        <p:spPr>
          <a:xfrm>
            <a:off x="1292373" y="894944"/>
            <a:ext cx="253138" cy="5515583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E75B8C0-2704-AC2D-BB31-03B59BB46AB9}"/>
              </a:ext>
            </a:extLst>
          </p:cNvPr>
          <p:cNvSpPr/>
          <p:nvPr/>
        </p:nvSpPr>
        <p:spPr>
          <a:xfrm>
            <a:off x="7519595" y="894944"/>
            <a:ext cx="188888" cy="5515583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621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1DB5A-B066-91CC-021B-8EC755C8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showing a number of points&#10;&#10;AI-generated content may be incorrect.">
            <a:extLst>
              <a:ext uri="{FF2B5EF4-FFF2-40B4-BE49-F238E27FC236}">
                <a16:creationId xmlns:a16="http://schemas.microsoft.com/office/drawing/2014/main" id="{DA92E525-C638-A9EE-0519-301FF46AAD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87" y="14591"/>
            <a:ext cx="11614826" cy="686330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2917C4-6F00-E070-EB03-856DF83E890B}"/>
              </a:ext>
            </a:extLst>
          </p:cNvPr>
          <p:cNvSpPr/>
          <p:nvPr/>
        </p:nvSpPr>
        <p:spPr>
          <a:xfrm>
            <a:off x="2169268" y="2402733"/>
            <a:ext cx="359923" cy="2509736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137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DEB8-6090-2DD8-254C-1653CF26F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855A202E-43D8-C7E0-6C9E-79D251D6CC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493" y="447472"/>
            <a:ext cx="6064647" cy="2531989"/>
          </a:xfrm>
          <a:prstGeom prst="rect">
            <a:avLst/>
          </a:prstGeom>
        </p:spPr>
      </p:pic>
      <p:pic>
        <p:nvPicPr>
          <p:cNvPr id="7" name="Picture 6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51C1EDF0-1587-A89C-85D4-60FA03E099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448139"/>
            <a:ext cx="6063048" cy="2531322"/>
          </a:xfrm>
          <a:prstGeom prst="rect">
            <a:avLst/>
          </a:prstGeom>
        </p:spPr>
      </p:pic>
      <p:pic>
        <p:nvPicPr>
          <p:cNvPr id="5" name="Picture 4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E0283D2C-0626-FF18-D6A2-47D29542879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0" y="3878539"/>
            <a:ext cx="6032550" cy="2518588"/>
          </a:xfrm>
          <a:prstGeom prst="rect">
            <a:avLst/>
          </a:prstGeom>
        </p:spPr>
      </p:pic>
      <p:pic>
        <p:nvPicPr>
          <p:cNvPr id="9" name="Picture 8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3AC4588F-A68A-1F85-79FE-F9F3815C9C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450" y="3878539"/>
            <a:ext cx="6030078" cy="251755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134916-A354-2595-6A7D-7ADC8E45B2CE}"/>
              </a:ext>
            </a:extLst>
          </p:cNvPr>
          <p:cNvSpPr/>
          <p:nvPr/>
        </p:nvSpPr>
        <p:spPr>
          <a:xfrm>
            <a:off x="2373548" y="894945"/>
            <a:ext cx="184825" cy="5515583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2DD0C91-91EE-DB54-12BF-2D5ECF1E136C}"/>
              </a:ext>
            </a:extLst>
          </p:cNvPr>
          <p:cNvSpPr/>
          <p:nvPr/>
        </p:nvSpPr>
        <p:spPr>
          <a:xfrm>
            <a:off x="8500028" y="894945"/>
            <a:ext cx="184825" cy="5515583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047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2F61D-C15A-6C68-1098-C2AB3381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dots and lines&#10;&#10;AI-generated content may be incorrect.">
            <a:extLst>
              <a:ext uri="{FF2B5EF4-FFF2-40B4-BE49-F238E27FC236}">
                <a16:creationId xmlns:a16="http://schemas.microsoft.com/office/drawing/2014/main" id="{05B3D93C-E9B1-D085-6737-32A1F56437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077" y="0"/>
            <a:ext cx="11605846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E7D4C0-A42F-0A6C-6702-28F0A1D9C4E0}"/>
              </a:ext>
            </a:extLst>
          </p:cNvPr>
          <p:cNvSpPr/>
          <p:nvPr/>
        </p:nvSpPr>
        <p:spPr>
          <a:xfrm>
            <a:off x="4289898" y="1702341"/>
            <a:ext cx="359923" cy="2889114"/>
          </a:xfrm>
          <a:prstGeom prst="round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353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19523-615C-DE74-E58F-6227C5BCB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1D9D187E-F92E-D9D9-45C3-4CB06649B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825" y="3864772"/>
            <a:ext cx="6075175" cy="2531323"/>
          </a:xfrm>
          <a:prstGeom prst="rect">
            <a:avLst/>
          </a:prstGeom>
        </p:spPr>
      </p:pic>
      <p:pic>
        <p:nvPicPr>
          <p:cNvPr id="10" name="Picture 9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552B2DC4-6D02-4A67-8CEE-7485E6DB3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4772"/>
            <a:ext cx="6075174" cy="2531323"/>
          </a:xfrm>
          <a:prstGeom prst="rect">
            <a:avLst/>
          </a:prstGeom>
        </p:spPr>
      </p:pic>
      <p:pic>
        <p:nvPicPr>
          <p:cNvPr id="6" name="Picture 5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90C7EE0D-10E4-7331-469F-FDD21D1325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4357" y="447472"/>
            <a:ext cx="6075172" cy="2531322"/>
          </a:xfrm>
          <a:prstGeom prst="rect">
            <a:avLst/>
          </a:prstGeom>
        </p:spPr>
      </p:pic>
      <p:pic>
        <p:nvPicPr>
          <p:cNvPr id="3" name="Picture 2" descr="A graph of blue and orange bars&#10;&#10;AI-generated content may be incorrect.">
            <a:extLst>
              <a:ext uri="{FF2B5EF4-FFF2-40B4-BE49-F238E27FC236}">
                <a16:creationId xmlns:a16="http://schemas.microsoft.com/office/drawing/2014/main" id="{A20CC5E8-7A4C-DE38-DBA3-F1680610AA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7472"/>
            <a:ext cx="6075174" cy="253132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0BC342F-A0F5-7768-F7A2-A91F56649290}"/>
              </a:ext>
            </a:extLst>
          </p:cNvPr>
          <p:cNvSpPr/>
          <p:nvPr/>
        </p:nvSpPr>
        <p:spPr>
          <a:xfrm>
            <a:off x="4163438" y="894945"/>
            <a:ext cx="184825" cy="5515583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8F0484F-56FE-1354-3719-41BC8F8A64B2}"/>
              </a:ext>
            </a:extLst>
          </p:cNvPr>
          <p:cNvSpPr/>
          <p:nvPr/>
        </p:nvSpPr>
        <p:spPr>
          <a:xfrm>
            <a:off x="10309372" y="894945"/>
            <a:ext cx="184825" cy="5515583"/>
          </a:xfrm>
          <a:prstGeom prst="roundRect">
            <a:avLst/>
          </a:prstGeom>
          <a:noFill/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40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CA3F4-31A6-2B98-2B2B-815160BE0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6A6B9C-992A-D845-DC41-B70EC4E6E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207" y="330509"/>
            <a:ext cx="8787171" cy="746966"/>
          </a:xfrm>
        </p:spPr>
        <p:txBody>
          <a:bodyPr>
            <a:normAutofit/>
          </a:bodyPr>
          <a:lstStyle/>
          <a:p>
            <a:r>
              <a:rPr lang="en-US" dirty="0"/>
              <a:t>NEXT</a:t>
            </a:r>
            <a:r>
              <a:rPr lang="zh-CN" altLang="en-US" dirty="0"/>
              <a:t> </a:t>
            </a:r>
            <a:r>
              <a:rPr lang="en-US" altLang="zh-CN" dirty="0"/>
              <a:t>STEP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ECA4183-7011-423B-E11E-54864B55E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F9AE70C-EE9F-284C-8BED-0ACA912CD160}" type="slidenum">
              <a:rPr lang="en-US" smtClean="0"/>
              <a:pPr/>
              <a:t>14</a:t>
            </a:fld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FCFC87-9A6A-05B3-8B5F-8DD6D9BAC38F}"/>
              </a:ext>
            </a:extLst>
          </p:cNvPr>
          <p:cNvSpPr txBox="1"/>
          <p:nvPr/>
        </p:nvSpPr>
        <p:spPr>
          <a:xfrm>
            <a:off x="265207" y="1695228"/>
            <a:ext cx="1169055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预处理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检测成本的选取，目前基于返工检测成本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报废工件的单价未知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指标的时间窗口长度</a:t>
            </a: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超参数优化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标准化中超参数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主观权重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绝对阈值分级中历史数据的选取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endParaRPr lang="en-US" altLang="zh-CN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393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</TotalTime>
  <Words>484</Words>
  <Application>Microsoft Office PowerPoint</Application>
  <PresentationFormat>Widescreen</PresentationFormat>
  <Paragraphs>74</Paragraphs>
  <Slides>14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Arial Narrow</vt:lpstr>
      <vt:lpstr>Arial Nova Cond</vt:lpstr>
      <vt:lpstr>Arial Nova Cond Light</vt:lpstr>
      <vt:lpstr>Office Theme</vt:lpstr>
      <vt:lpstr>背景与核心要求</vt:lpstr>
      <vt:lpstr>预处理</vt:lpstr>
      <vt:lpstr>数据处理</vt:lpstr>
      <vt:lpstr>预处理结果</vt:lpstr>
      <vt:lpstr>输出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 STEP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Alan Hu</dc:creator>
  <cp:lastModifiedBy>Alan Hu</cp:lastModifiedBy>
  <cp:revision>19</cp:revision>
  <dcterms:created xsi:type="dcterms:W3CDTF">2025-11-17T02:37:06Z</dcterms:created>
  <dcterms:modified xsi:type="dcterms:W3CDTF">2025-11-18T08:18:44Z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b5e2db6-eecf-4aa2-8fc3-174bf94bce19_Enabled">
    <vt:lpwstr>true</vt:lpwstr>
  </property>
  <property fmtid="{D5CDD505-2E9C-101B-9397-08002B2CF9AE}" pid="3" name="MSIP_Label_fb5e2db6-eecf-4aa2-8fc3-174bf94bce19_SetDate">
    <vt:lpwstr>2025-11-17T02:50:42Z</vt:lpwstr>
  </property>
  <property fmtid="{D5CDD505-2E9C-101B-9397-08002B2CF9AE}" pid="4" name="MSIP_Label_fb5e2db6-eecf-4aa2-8fc3-174bf94bce19_Method">
    <vt:lpwstr>Standard</vt:lpwstr>
  </property>
  <property fmtid="{D5CDD505-2E9C-101B-9397-08002B2CF9AE}" pid="5" name="MSIP_Label_fb5e2db6-eecf-4aa2-8fc3-174bf94bce19_Name">
    <vt:lpwstr>fb5e2db6-eecf-4aa2-8fc3-174bf94bce19</vt:lpwstr>
  </property>
  <property fmtid="{D5CDD505-2E9C-101B-9397-08002B2CF9AE}" pid="6" name="MSIP_Label_fb5e2db6-eecf-4aa2-8fc3-174bf94bce19_SiteId">
    <vt:lpwstr>ceb177bf-013b-49ab-8a9c-4abce32afc1e</vt:lpwstr>
  </property>
  <property fmtid="{D5CDD505-2E9C-101B-9397-08002B2CF9AE}" pid="7" name="MSIP_Label_fb5e2db6-eecf-4aa2-8fc3-174bf94bce19_ActionId">
    <vt:lpwstr>8972f2c4-d4e3-4034-b411-d93a88b8dd8e</vt:lpwstr>
  </property>
  <property fmtid="{D5CDD505-2E9C-101B-9397-08002B2CF9AE}" pid="8" name="MSIP_Label_fb5e2db6-eecf-4aa2-8fc3-174bf94bce19_ContentBits">
    <vt:lpwstr>2</vt:lpwstr>
  </property>
  <property fmtid="{D5CDD505-2E9C-101B-9397-08002B2CF9AE}" pid="9" name="MSIP_Label_fb5e2db6-eecf-4aa2-8fc3-174bf94bce19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Caterpillar: Confidential Green</vt:lpwstr>
  </property>
</Properties>
</file>